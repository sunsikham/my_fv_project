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Which Inside-A Features Change Over Steps?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126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tos"/>
              </a:rPr>
              <a:t>Inside-A carries most of the stepwise change. The next question is which A-features are being reweighted across matched A slots.</a:t>
            </a:r>
          </a:p>
        </p:txBody>
      </p:sp>
      <p:pic>
        <p:nvPicPr>
          <p:cNvPr id="4" name="Picture 3" descr="q1_inside_a_feature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38560" cy="41936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6080760"/>
            <a:ext cx="11155680" cy="438912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>Takeaway. Inside A, the same role-defined features do not stay fixed: g2/g3/g4 are amplified along the B branch, while the D branch strengthens g0 and suppresses anti-D axes such as g1 and g3.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BABABA: Which Features Drive the B-Directed Drift?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12648"/>
            <a:ext cx="109728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tos"/>
              </a:rPr>
              <a:t>Contribution asks not just which features changed, but which of those changes actually pushed the state toward B. Each colored segment shows how much one inside-A feature contributes to that B-directed drift, relative to the AAA baseline. Segments above zero support B-directed drift; segments below zero oppose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46304" cy="109728"/>
          </a:xfrm>
          <a:prstGeom prst="rect">
            <a:avLst/>
          </a:prstGeom>
          <a:solidFill>
            <a:srgbClr val="D9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D9893D"/>
                </a:solidFill>
                <a:latin typeface="Aptos"/>
              </a:rPr>
              <a:t>g0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5295" y="1078992"/>
            <a:ext cx="146304" cy="109728"/>
          </a:xfrm>
          <a:prstGeom prst="rect">
            <a:avLst/>
          </a:prstGeom>
          <a:solidFill>
            <a:srgbClr val="7A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175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7A6E9C"/>
                </a:solidFill>
                <a:latin typeface="Aptos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83663" y="1078992"/>
            <a:ext cx="146304" cy="109728"/>
          </a:xfrm>
          <a:prstGeom prst="rect">
            <a:avLst/>
          </a:prstGeom>
          <a:solidFill>
            <a:srgbClr val="2F6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3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6BDA"/>
                </a:solidFill>
                <a:latin typeface="Aptos"/>
              </a:rPr>
              <a:t>g2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1" y="1078992"/>
            <a:ext cx="146304" cy="109728"/>
          </a:xfrm>
          <a:prstGeom prst="rect">
            <a:avLst/>
          </a:prstGeom>
          <a:solidFill>
            <a:srgbClr val="0F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1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9D8B"/>
                </a:solidFill>
                <a:latin typeface="Aptos"/>
              </a:rPr>
              <a:t>g3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99" y="1078992"/>
            <a:ext cx="146304" cy="109728"/>
          </a:xfrm>
          <a:prstGeom prst="rect">
            <a:avLst/>
          </a:prstGeom>
          <a:solidFill>
            <a:srgbClr val="7E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7EB6FF"/>
                </a:solidFill>
                <a:latin typeface="Aptos"/>
              </a:rPr>
              <a:t>g4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7" y="1078992"/>
            <a:ext cx="146304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7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ptos"/>
              </a:rPr>
              <a:t>total</a:t>
            </a:r>
          </a:p>
        </p:txBody>
      </p:sp>
      <p:pic>
        <p:nvPicPr>
          <p:cNvPr id="16" name="Picture 15" descr="q1_inside_a_feature_contributions_b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26464"/>
            <a:ext cx="10927080" cy="49504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DADADA: Which Features Drive the D-Directed Drift?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12648"/>
            <a:ext cx="109728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tos"/>
              </a:rPr>
              <a:t>Contribution asks not just which features changed, but which of those changes actually pushed the state toward D. Each colored segment shows how much one inside-A feature contributes to that D-directed drift, relative to the AAA baseline. Segments above zero support D-directed drift; segments below zero oppose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46304" cy="109728"/>
          </a:xfrm>
          <a:prstGeom prst="rect">
            <a:avLst/>
          </a:prstGeom>
          <a:solidFill>
            <a:srgbClr val="D9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D9893D"/>
                </a:solidFill>
                <a:latin typeface="Aptos"/>
              </a:rPr>
              <a:t>g0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5295" y="1078992"/>
            <a:ext cx="146304" cy="109728"/>
          </a:xfrm>
          <a:prstGeom prst="rect">
            <a:avLst/>
          </a:prstGeom>
          <a:solidFill>
            <a:srgbClr val="7A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175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7A6E9C"/>
                </a:solidFill>
                <a:latin typeface="Aptos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83663" y="1078992"/>
            <a:ext cx="146304" cy="109728"/>
          </a:xfrm>
          <a:prstGeom prst="rect">
            <a:avLst/>
          </a:prstGeom>
          <a:solidFill>
            <a:srgbClr val="2F6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3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6BDA"/>
                </a:solidFill>
                <a:latin typeface="Aptos"/>
              </a:rPr>
              <a:t>g2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1" y="1078992"/>
            <a:ext cx="146304" cy="109728"/>
          </a:xfrm>
          <a:prstGeom prst="rect">
            <a:avLst/>
          </a:prstGeom>
          <a:solidFill>
            <a:srgbClr val="0F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1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9D8B"/>
                </a:solidFill>
                <a:latin typeface="Aptos"/>
              </a:rPr>
              <a:t>g3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99" y="1078992"/>
            <a:ext cx="146304" cy="109728"/>
          </a:xfrm>
          <a:prstGeom prst="rect">
            <a:avLst/>
          </a:prstGeom>
          <a:solidFill>
            <a:srgbClr val="7E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7EB6FF"/>
                </a:solidFill>
                <a:latin typeface="Aptos"/>
              </a:rPr>
              <a:t>g4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7" y="1078992"/>
            <a:ext cx="146304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7" y="1051560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ptos"/>
              </a:rPr>
              <a:t>total</a:t>
            </a:r>
          </a:p>
        </p:txBody>
      </p:sp>
      <p:pic>
        <p:nvPicPr>
          <p:cNvPr id="16" name="Picture 15" descr="q1_inside_a_feature_contributions_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26464"/>
            <a:ext cx="10927080" cy="49032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